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7"/>
  </p:notesMasterIdLst>
  <p:sldIdLst>
    <p:sldId id="256" r:id="rId2"/>
    <p:sldId id="257" r:id="rId3"/>
    <p:sldId id="258" r:id="rId4"/>
    <p:sldId id="259" r:id="rId5"/>
    <p:sldId id="260" r:id="rId6"/>
  </p:sldIdLst>
  <p:sldSz cx="14630400" cy="8229600"/>
  <p:notesSz cx="8229600" cy="14630400"/>
  <p:embeddedFontLst>
    <p:embeddedFont>
      <p:font typeface="Crimson Pro Semi Bold" panose="020B0604020202020204" charset="0"/>
      <p:regular r:id="rId8"/>
    </p:embeddedFont>
    <p:embeddedFont>
      <p:font typeface="Heebo" pitchFamily="2" charset="-79"/>
      <p:regular r:id="rId9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95" d="100"/>
          <a:sy n="95" d="100"/>
        </p:scale>
        <p:origin x="426" y="8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5741772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4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80190" y="1648182"/>
            <a:ext cx="7340798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O Desafio do Compliance em TI</a:t>
            </a:r>
            <a:endParaRPr lang="en-US" sz="4450" dirty="0"/>
          </a:p>
        </p:txBody>
      </p:sp>
      <p:sp>
        <p:nvSpPr>
          <p:cNvPr id="4" name="Text 1"/>
          <p:cNvSpPr/>
          <p:nvPr/>
        </p:nvSpPr>
        <p:spPr>
          <a:xfrm>
            <a:off x="6280190" y="2697123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Compliance e Auditoria de TI representam pilares fundamentais da Governança Corporativa moderna. Em um cenário onde dados são ativos estratégicos e as regulamentações se multiplicam (LGPD, SOX, PCI-DSS), as organizações enfrentam o desafio de garantir conformidade legal, segurança da informação e transparência operacional.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6280190" y="4766786"/>
            <a:ext cx="7556421" cy="181451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ausência de processos robustos de auditoria pode resultar em multas milionárias, perda de reputação e comprometimento da continuidade dos negócios. Segundo levantamento da PwC, 43% das empresas brasileiras sofreram fraudes nos últimos dois anos, evidenciando a urgência de controles efetivos.</a:t>
            </a:r>
            <a:endParaRPr lang="en-US" sz="1750" dirty="0"/>
          </a:p>
        </p:txBody>
      </p:sp>
      <p:sp>
        <p:nvSpPr>
          <p:cNvPr id="7" name="Retângulo 6">
            <a:extLst>
              <a:ext uri="{FF2B5EF4-FFF2-40B4-BE49-F238E27FC236}">
                <a16:creationId xmlns:a16="http://schemas.microsoft.com/office/drawing/2014/main" id="{71933A40-4D96-DB25-AE57-D0C27BA0C24C}"/>
              </a:ext>
            </a:extLst>
          </p:cNvPr>
          <p:cNvSpPr/>
          <p:nvPr/>
        </p:nvSpPr>
        <p:spPr>
          <a:xfrm>
            <a:off x="12168554" y="7415684"/>
            <a:ext cx="2341266" cy="71343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14137" y="722114"/>
            <a:ext cx="5840730" cy="3825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24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2. FRAMEWORKS E NORMAS RELACIONADAS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714137" y="1186220"/>
            <a:ext cx="6958132" cy="6376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000"/>
              </a:lnSpc>
              <a:buNone/>
            </a:pPr>
            <a:r>
              <a:rPr lang="en-US" sz="40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Principais Frameworks e Normas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714137" y="2129909"/>
            <a:ext cx="6499027" cy="1874163"/>
          </a:xfrm>
          <a:prstGeom prst="roundRect">
            <a:avLst>
              <a:gd name="adj" fmla="val 5855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91277" y="2129909"/>
            <a:ext cx="91440" cy="1874163"/>
          </a:xfrm>
          <a:prstGeom prst="roundRect">
            <a:avLst>
              <a:gd name="adj" fmla="val 33474"/>
            </a:avLst>
          </a:prstGeom>
          <a:solidFill>
            <a:srgbClr val="2150FE"/>
          </a:solidFill>
          <a:ln/>
        </p:spPr>
      </p:sp>
      <p:sp>
        <p:nvSpPr>
          <p:cNvPr id="6" name="Text 4"/>
          <p:cNvSpPr/>
          <p:nvPr/>
        </p:nvSpPr>
        <p:spPr>
          <a:xfrm>
            <a:off x="1009531" y="2356723"/>
            <a:ext cx="2550676" cy="318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COBIT 2019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1009531" y="2797850"/>
            <a:ext cx="5976818" cy="979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Framework de governança que integra compliance através dos objetivos de governança e gestão, especialmente nos domínios APO (Align, Plan, Organize) e MEA (Monitor, Evaluate, Assess).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17118" y="2129909"/>
            <a:ext cx="6499146" cy="1874163"/>
          </a:xfrm>
          <a:prstGeom prst="roundRect">
            <a:avLst>
              <a:gd name="adj" fmla="val 5855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394258" y="2129909"/>
            <a:ext cx="91440" cy="1874163"/>
          </a:xfrm>
          <a:prstGeom prst="roundRect">
            <a:avLst>
              <a:gd name="adj" fmla="val 33474"/>
            </a:avLst>
          </a:prstGeom>
          <a:solidFill>
            <a:srgbClr val="2150FE"/>
          </a:solidFill>
          <a:ln/>
        </p:spPr>
      </p:sp>
      <p:sp>
        <p:nvSpPr>
          <p:cNvPr id="10" name="Text 8"/>
          <p:cNvSpPr/>
          <p:nvPr/>
        </p:nvSpPr>
        <p:spPr>
          <a:xfrm>
            <a:off x="7712512" y="2356723"/>
            <a:ext cx="2550676" cy="318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ISO/IEC 27001</a:t>
            </a:r>
            <a:endParaRPr lang="en-US" sz="2000" dirty="0"/>
          </a:p>
        </p:txBody>
      </p:sp>
      <p:sp>
        <p:nvSpPr>
          <p:cNvPr id="11" name="Text 9"/>
          <p:cNvSpPr/>
          <p:nvPr/>
        </p:nvSpPr>
        <p:spPr>
          <a:xfrm>
            <a:off x="7712512" y="2797850"/>
            <a:ext cx="5976938" cy="979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Norma internacional para Sistema de Gestão de Segurança da Informação (SGSI), estabelecendo controles para proteção de ativos de informação.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14137" y="4208026"/>
            <a:ext cx="6499027" cy="1547693"/>
          </a:xfrm>
          <a:prstGeom prst="roundRect">
            <a:avLst>
              <a:gd name="adj" fmla="val 709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91277" y="4208026"/>
            <a:ext cx="91440" cy="1547693"/>
          </a:xfrm>
          <a:prstGeom prst="roundRect">
            <a:avLst>
              <a:gd name="adj" fmla="val 33474"/>
            </a:avLst>
          </a:prstGeom>
          <a:solidFill>
            <a:srgbClr val="2150FE"/>
          </a:solidFill>
          <a:ln/>
        </p:spPr>
      </p:sp>
      <p:sp>
        <p:nvSpPr>
          <p:cNvPr id="14" name="Text 12"/>
          <p:cNvSpPr/>
          <p:nvPr/>
        </p:nvSpPr>
        <p:spPr>
          <a:xfrm>
            <a:off x="1009531" y="4434840"/>
            <a:ext cx="2550676" cy="318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ISO/IEC 38500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1009531" y="4875967"/>
            <a:ext cx="5976818" cy="652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Princípios de governança corporativa de TI, incluindo conformidade como responsabilidade do conselho.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417118" y="4208026"/>
            <a:ext cx="6499146" cy="1547693"/>
          </a:xfrm>
          <a:prstGeom prst="roundRect">
            <a:avLst>
              <a:gd name="adj" fmla="val 709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7394258" y="4208026"/>
            <a:ext cx="91440" cy="1547693"/>
          </a:xfrm>
          <a:prstGeom prst="roundRect">
            <a:avLst>
              <a:gd name="adj" fmla="val 33474"/>
            </a:avLst>
          </a:prstGeom>
          <a:solidFill>
            <a:srgbClr val="2150FE"/>
          </a:solidFill>
          <a:ln/>
        </p:spPr>
      </p:sp>
      <p:sp>
        <p:nvSpPr>
          <p:cNvPr id="18" name="Text 16"/>
          <p:cNvSpPr/>
          <p:nvPr/>
        </p:nvSpPr>
        <p:spPr>
          <a:xfrm>
            <a:off x="7712512" y="4434840"/>
            <a:ext cx="2550676" cy="318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ITIL 4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7712512" y="4875967"/>
            <a:ext cx="5976938" cy="652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Gerenciamento de serviços com forte componente de gestão de riscos e conformidade operacional.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14137" y="5959673"/>
            <a:ext cx="6499027" cy="1547693"/>
          </a:xfrm>
          <a:prstGeom prst="roundRect">
            <a:avLst>
              <a:gd name="adj" fmla="val 709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691277" y="5959673"/>
            <a:ext cx="91440" cy="1547693"/>
          </a:xfrm>
          <a:prstGeom prst="roundRect">
            <a:avLst>
              <a:gd name="adj" fmla="val 33474"/>
            </a:avLst>
          </a:prstGeom>
          <a:solidFill>
            <a:srgbClr val="2150FE"/>
          </a:solidFill>
          <a:ln/>
        </p:spPr>
      </p:sp>
      <p:sp>
        <p:nvSpPr>
          <p:cNvPr id="22" name="Text 20"/>
          <p:cNvSpPr/>
          <p:nvPr/>
        </p:nvSpPr>
        <p:spPr>
          <a:xfrm>
            <a:off x="1009531" y="6186488"/>
            <a:ext cx="2550676" cy="318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SOX (Sarbanes-Oxley)</a:t>
            </a:r>
            <a:endParaRPr lang="en-US" sz="2000" dirty="0"/>
          </a:p>
        </p:txBody>
      </p:sp>
      <p:sp>
        <p:nvSpPr>
          <p:cNvPr id="23" name="Text 21"/>
          <p:cNvSpPr/>
          <p:nvPr/>
        </p:nvSpPr>
        <p:spPr>
          <a:xfrm>
            <a:off x="1009531" y="6627614"/>
            <a:ext cx="5976818" cy="652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Lei norte-americana aplicável a empresas de capital aberto, exigindo controles internos rigorosos sobre relatórios financeiros.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417118" y="5959673"/>
            <a:ext cx="6499146" cy="1547693"/>
          </a:xfrm>
          <a:prstGeom prst="roundRect">
            <a:avLst>
              <a:gd name="adj" fmla="val 7090"/>
            </a:avLst>
          </a:prstGeom>
          <a:solidFill>
            <a:srgbClr val="FFFFFF"/>
          </a:solidFill>
          <a:ln w="22860">
            <a:solidFill>
              <a:srgbClr val="D8D4D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394258" y="5959673"/>
            <a:ext cx="91440" cy="1547693"/>
          </a:xfrm>
          <a:prstGeom prst="roundRect">
            <a:avLst>
              <a:gd name="adj" fmla="val 33474"/>
            </a:avLst>
          </a:prstGeom>
          <a:solidFill>
            <a:srgbClr val="2150FE"/>
          </a:solidFill>
          <a:ln/>
        </p:spPr>
      </p:sp>
      <p:sp>
        <p:nvSpPr>
          <p:cNvPr id="26" name="Text 24"/>
          <p:cNvSpPr/>
          <p:nvPr/>
        </p:nvSpPr>
        <p:spPr>
          <a:xfrm>
            <a:off x="7712512" y="6186488"/>
            <a:ext cx="2550676" cy="3187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00"/>
              </a:lnSpc>
              <a:buNone/>
            </a:pPr>
            <a:r>
              <a:rPr lang="en-US" sz="20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LGPD (Lei 13.709/2018)</a:t>
            </a:r>
            <a:endParaRPr lang="en-US" sz="2000" dirty="0"/>
          </a:p>
        </p:txBody>
      </p:sp>
      <p:sp>
        <p:nvSpPr>
          <p:cNvPr id="27" name="Text 25"/>
          <p:cNvSpPr/>
          <p:nvPr/>
        </p:nvSpPr>
        <p:spPr>
          <a:xfrm>
            <a:off x="7712512" y="6627614"/>
            <a:ext cx="5976938" cy="6529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Regulamenta tratamento de dados pessoais no Brasil, exigindo governança de privacidade.</a:t>
            </a:r>
            <a:endParaRPr lang="en-US" sz="1600" dirty="0"/>
          </a:p>
        </p:txBody>
      </p:sp>
      <p:sp>
        <p:nvSpPr>
          <p:cNvPr id="28" name="Retângulo 27">
            <a:extLst>
              <a:ext uri="{FF2B5EF4-FFF2-40B4-BE49-F238E27FC236}">
                <a16:creationId xmlns:a16="http://schemas.microsoft.com/office/drawing/2014/main" id="{8A6C2612-FB25-5955-2FDB-07FB6067CDA9}"/>
              </a:ext>
            </a:extLst>
          </p:cNvPr>
          <p:cNvSpPr/>
          <p:nvPr/>
        </p:nvSpPr>
        <p:spPr>
          <a:xfrm>
            <a:off x="12168554" y="7629762"/>
            <a:ext cx="2341266" cy="499355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80787" y="456248"/>
            <a:ext cx="4158853" cy="3111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3. APLICAÇÃO PRÁTICA - CASO RENNER</a:t>
            </a:r>
            <a:endParaRPr lang="en-US" sz="1950" dirty="0"/>
          </a:p>
        </p:txBody>
      </p:sp>
      <p:sp>
        <p:nvSpPr>
          <p:cNvPr id="3" name="Text 1"/>
          <p:cNvSpPr/>
          <p:nvPr/>
        </p:nvSpPr>
        <p:spPr>
          <a:xfrm>
            <a:off x="580787" y="833676"/>
            <a:ext cx="11086981" cy="518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50"/>
              </a:lnSpc>
              <a:buNone/>
            </a:pPr>
            <a:r>
              <a:rPr lang="en-US" sz="32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Caso Lojas Renner: Incidente Cibernético e Lições de Governança</a:t>
            </a:r>
            <a:endParaRPr lang="en-US" sz="3250" dirty="0"/>
          </a:p>
        </p:txBody>
      </p:sp>
      <p:sp>
        <p:nvSpPr>
          <p:cNvPr id="4" name="Text 2"/>
          <p:cNvSpPr/>
          <p:nvPr/>
        </p:nvSpPr>
        <p:spPr>
          <a:xfrm>
            <a:off x="580787" y="1601033"/>
            <a:ext cx="13468826" cy="53101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Contexto real (confirmado):</a:t>
            </a: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Em agosto de 2021, a Lojas Renner sofreu um ataque cibernético que tornou seus sistemas indisponíveis temporariamente. O incidente gerou grande repercussão, e houve </a:t>
            </a:r>
            <a:r>
              <a:rPr lang="en-US" sz="13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suspeita de acesso indevido</a:t>
            </a: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discutida na mídia, mas </a:t>
            </a:r>
            <a:r>
              <a:rPr lang="en-US" sz="130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empresa não confirmou vazamento de dados pessoais</a:t>
            </a: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.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580787" y="2484477"/>
            <a:ext cx="2074188" cy="259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Impactos principais: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580787" y="2909530"/>
            <a:ext cx="6532007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Indisponibilidade temporária de sistemas internos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80787" y="3233023"/>
            <a:ext cx="6532007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Afetação do ambiente de vendas e operações digitais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80787" y="3556516"/>
            <a:ext cx="6532007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Abertura de investigação interna e externa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7525226" y="2484477"/>
            <a:ext cx="2552343" cy="259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Ações imediatas confirmadas: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7525226" y="2909530"/>
            <a:ext cx="6532007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Ativação do plano de contingência da área de TI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525226" y="3233023"/>
            <a:ext cx="6532007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Contratação de consultorias especializadas (forense digital)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7525226" y="3556516"/>
            <a:ext cx="6532007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Restabelecimento gradual dos sistemas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7525226" y="3880009"/>
            <a:ext cx="6532007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Comunicação oficial ao mercado e acionistas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80787" y="4452342"/>
            <a:ext cx="7075051" cy="414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50"/>
              </a:lnSpc>
              <a:buNone/>
            </a:pPr>
            <a:r>
              <a:rPr lang="en-US" sz="26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Lições de Governança e Compliance do Caso Renner</a:t>
            </a:r>
            <a:endParaRPr lang="en-US" sz="2600" dirty="0"/>
          </a:p>
        </p:txBody>
      </p:sp>
      <p:sp>
        <p:nvSpPr>
          <p:cNvPr id="15" name="Text 13"/>
          <p:cNvSpPr/>
          <p:nvPr/>
        </p:nvSpPr>
        <p:spPr>
          <a:xfrm>
            <a:off x="580787" y="5116116"/>
            <a:ext cx="13468826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300" i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 empresa não divulga detalhes técnicos por segurança, mas com base em frameworks, as lições extraídas pelo mercado incluem: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580787" y="5734050"/>
            <a:ext cx="2167652" cy="259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Boas Práticas Reforçadas: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580787" y="6159103"/>
            <a:ext cx="6532007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Adoção de políticas robustas de Resposta a Incidentes (ISO 27001 – Anexo A.16)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580787" y="6482596"/>
            <a:ext cx="6532007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Monitoramento contínuo e auditorias externas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580787" y="6806089"/>
            <a:ext cx="6532007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Segmentação adequada de sistemas críticos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80787" y="7129582"/>
            <a:ext cx="6532007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Revisão de acessos e segregação de funções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580787" y="7453074"/>
            <a:ext cx="6532007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Melhoria da comunicação com stakeholders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7525226" y="5734050"/>
            <a:ext cx="3198019" cy="25919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Aprendizados para Governança de TI: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7525226" y="6159103"/>
            <a:ext cx="6532007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Importância de um processo claro de respostas a incidentes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7525226" y="6482596"/>
            <a:ext cx="6532007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Necessidade de auditorias preventivas e avaliações de maturidade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7525226" y="6806089"/>
            <a:ext cx="6532007" cy="26550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30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Relevância de frameworks como COBIT, ITIL e ISO 27001 para gestão de riscos</a:t>
            </a:r>
            <a:endParaRPr lang="en-US" sz="1300" dirty="0"/>
          </a:p>
        </p:txBody>
      </p:sp>
      <p:sp>
        <p:nvSpPr>
          <p:cNvPr id="26" name="Retângulo 25">
            <a:extLst>
              <a:ext uri="{FF2B5EF4-FFF2-40B4-BE49-F238E27FC236}">
                <a16:creationId xmlns:a16="http://schemas.microsoft.com/office/drawing/2014/main" id="{9BFAEF68-5B50-9E7F-A5A0-FC17D8130CE6}"/>
              </a:ext>
            </a:extLst>
          </p:cNvPr>
          <p:cNvSpPr/>
          <p:nvPr/>
        </p:nvSpPr>
        <p:spPr>
          <a:xfrm>
            <a:off x="12168554" y="7415684"/>
            <a:ext cx="2341266" cy="71343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49379" y="924163"/>
            <a:ext cx="3695700" cy="4014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150"/>
              </a:lnSpc>
              <a:buNone/>
            </a:pPr>
            <a:r>
              <a:rPr lang="en-US" sz="25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4. DESAFIOS E BENEFÍCIOS</a:t>
            </a:r>
            <a:endParaRPr lang="en-US" sz="2500" dirty="0"/>
          </a:p>
        </p:txBody>
      </p:sp>
      <p:sp>
        <p:nvSpPr>
          <p:cNvPr id="3" name="Text 1"/>
          <p:cNvSpPr/>
          <p:nvPr/>
        </p:nvSpPr>
        <p:spPr>
          <a:xfrm>
            <a:off x="749379" y="1860828"/>
            <a:ext cx="6120051" cy="669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Desafios da Implementação</a:t>
            </a:r>
            <a:endParaRPr lang="en-US" sz="4200" dirty="0"/>
          </a:p>
        </p:txBody>
      </p:sp>
      <p:sp>
        <p:nvSpPr>
          <p:cNvPr id="4" name="Text 2"/>
          <p:cNvSpPr/>
          <p:nvPr/>
        </p:nvSpPr>
        <p:spPr>
          <a:xfrm>
            <a:off x="749379" y="2744033"/>
            <a:ext cx="6304598" cy="68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Complexidade Regulatória:</a:t>
            </a: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Múltiplas legislações com requisitos sobrepostos e atualizações frequentes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749379" y="3504248"/>
            <a:ext cx="6304598" cy="68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Resistência Cultural:</a:t>
            </a: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Percepção de compliance como burocracia que reduz agilidade dos negócios</a:t>
            </a:r>
            <a:endParaRPr lang="en-US" sz="1650" dirty="0"/>
          </a:p>
        </p:txBody>
      </p:sp>
      <p:sp>
        <p:nvSpPr>
          <p:cNvPr id="6" name="Text 4"/>
          <p:cNvSpPr/>
          <p:nvPr/>
        </p:nvSpPr>
        <p:spPr>
          <a:xfrm>
            <a:off x="749379" y="4264462"/>
            <a:ext cx="6304598" cy="68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Custos Elevados:</a:t>
            </a: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Investimentos em ferramentas, consultorias e recursos especializados</a:t>
            </a:r>
            <a:endParaRPr lang="en-US" sz="1650" dirty="0"/>
          </a:p>
        </p:txBody>
      </p:sp>
      <p:sp>
        <p:nvSpPr>
          <p:cNvPr id="7" name="Text 5"/>
          <p:cNvSpPr/>
          <p:nvPr/>
        </p:nvSpPr>
        <p:spPr>
          <a:xfrm>
            <a:off x="749379" y="5024676"/>
            <a:ext cx="6304598" cy="68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Escassez de Talentos:</a:t>
            </a: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Dificuldade em recrutar e reter profissionais qualificados em auditoria e segurança de TI</a:t>
            </a:r>
            <a:endParaRPr lang="en-US" sz="1650" dirty="0"/>
          </a:p>
        </p:txBody>
      </p:sp>
      <p:sp>
        <p:nvSpPr>
          <p:cNvPr id="8" name="Text 6"/>
          <p:cNvSpPr/>
          <p:nvPr/>
        </p:nvSpPr>
        <p:spPr>
          <a:xfrm>
            <a:off x="749379" y="5784890"/>
            <a:ext cx="6304598" cy="68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Sistemas Legados:</a:t>
            </a: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Dificuldade técnica de implementar controles em infraestruturas antigas</a:t>
            </a:r>
            <a:endParaRPr lang="en-US" sz="1650" dirty="0"/>
          </a:p>
        </p:txBody>
      </p:sp>
      <p:sp>
        <p:nvSpPr>
          <p:cNvPr id="9" name="Text 7"/>
          <p:cNvSpPr/>
          <p:nvPr/>
        </p:nvSpPr>
        <p:spPr>
          <a:xfrm>
            <a:off x="749379" y="6545104"/>
            <a:ext cx="6304598" cy="68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Integração de Processos:</a:t>
            </a: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Alinhamento entre TI, jurídico, auditoria interna e áreas de negócio</a:t>
            </a:r>
            <a:endParaRPr lang="en-US" sz="1650" dirty="0"/>
          </a:p>
        </p:txBody>
      </p:sp>
      <p:sp>
        <p:nvSpPr>
          <p:cNvPr id="10" name="Text 8"/>
          <p:cNvSpPr/>
          <p:nvPr/>
        </p:nvSpPr>
        <p:spPr>
          <a:xfrm>
            <a:off x="7584043" y="1860828"/>
            <a:ext cx="5983010" cy="6691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250"/>
              </a:lnSpc>
              <a:buNone/>
            </a:pPr>
            <a:r>
              <a:rPr lang="en-US" sz="4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Benefícios Organizacionais</a:t>
            </a:r>
            <a:endParaRPr lang="en-US" sz="4200" dirty="0"/>
          </a:p>
        </p:txBody>
      </p:sp>
      <p:sp>
        <p:nvSpPr>
          <p:cNvPr id="11" name="Text 9"/>
          <p:cNvSpPr/>
          <p:nvPr/>
        </p:nvSpPr>
        <p:spPr>
          <a:xfrm>
            <a:off x="7584043" y="2744033"/>
            <a:ext cx="6304598" cy="68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Redução de Riscos:</a:t>
            </a: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Diminuição de probabilidade e impacto de incidentes de segurança</a:t>
            </a:r>
            <a:endParaRPr lang="en-US" sz="1650" dirty="0"/>
          </a:p>
        </p:txBody>
      </p:sp>
      <p:sp>
        <p:nvSpPr>
          <p:cNvPr id="12" name="Text 10"/>
          <p:cNvSpPr/>
          <p:nvPr/>
        </p:nvSpPr>
        <p:spPr>
          <a:xfrm>
            <a:off x="7584043" y="3504248"/>
            <a:ext cx="6304598" cy="68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Conformidade Legal:</a:t>
            </a: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Evita sanções regulatórias e passivos jurídicos</a:t>
            </a:r>
            <a:endParaRPr lang="en-US" sz="1650" dirty="0"/>
          </a:p>
        </p:txBody>
      </p:sp>
      <p:sp>
        <p:nvSpPr>
          <p:cNvPr id="13" name="Text 11"/>
          <p:cNvSpPr/>
          <p:nvPr/>
        </p:nvSpPr>
        <p:spPr>
          <a:xfrm>
            <a:off x="7584043" y="4264462"/>
            <a:ext cx="6304598" cy="68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Vantagem Competitiva:</a:t>
            </a: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Certificações reconhecidas (ISO 27001, SOC 2) fortalecem posicionamento de mercado</a:t>
            </a:r>
            <a:endParaRPr lang="en-US" sz="1650" dirty="0"/>
          </a:p>
        </p:txBody>
      </p:sp>
      <p:sp>
        <p:nvSpPr>
          <p:cNvPr id="14" name="Text 12"/>
          <p:cNvSpPr/>
          <p:nvPr/>
        </p:nvSpPr>
        <p:spPr>
          <a:xfrm>
            <a:off x="7584043" y="5024676"/>
            <a:ext cx="6304598" cy="68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Eficiência Operacional:</a:t>
            </a: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Processos estruturados reduzem retrabalho e incidentes</a:t>
            </a:r>
            <a:endParaRPr lang="en-US" sz="1650" dirty="0"/>
          </a:p>
        </p:txBody>
      </p:sp>
      <p:sp>
        <p:nvSpPr>
          <p:cNvPr id="15" name="Text 13"/>
          <p:cNvSpPr/>
          <p:nvPr/>
        </p:nvSpPr>
        <p:spPr>
          <a:xfrm>
            <a:off x="7584043" y="5784890"/>
            <a:ext cx="6304598" cy="68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Confiança dos Stakeholders:</a:t>
            </a: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Fortalece reputação junto a clientes, investidores e parceiros</a:t>
            </a:r>
            <a:endParaRPr lang="en-US" sz="1650" dirty="0"/>
          </a:p>
        </p:txBody>
      </p:sp>
      <p:sp>
        <p:nvSpPr>
          <p:cNvPr id="16" name="Text 14"/>
          <p:cNvSpPr/>
          <p:nvPr/>
        </p:nvSpPr>
        <p:spPr>
          <a:xfrm>
            <a:off x="7584043" y="6545104"/>
            <a:ext cx="6304598" cy="6853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650"/>
              </a:lnSpc>
              <a:buSzPct val="100000"/>
              <a:buChar char="•"/>
            </a:pPr>
            <a:r>
              <a:rPr lang="en-US" sz="1650" b="1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Melhoria Contínua:</a:t>
            </a:r>
            <a:r>
              <a:rPr lang="en-US" sz="16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 Auditorias identificam oportunidades de otimização</a:t>
            </a:r>
            <a:endParaRPr lang="en-US" sz="1650" dirty="0"/>
          </a:p>
        </p:txBody>
      </p:sp>
      <p:sp>
        <p:nvSpPr>
          <p:cNvPr id="17" name="Retângulo 16">
            <a:extLst>
              <a:ext uri="{FF2B5EF4-FFF2-40B4-BE49-F238E27FC236}">
                <a16:creationId xmlns:a16="http://schemas.microsoft.com/office/drawing/2014/main" id="{F27C6540-EE5A-E257-B12D-045917A77432}"/>
              </a:ext>
            </a:extLst>
          </p:cNvPr>
          <p:cNvSpPr/>
          <p:nvPr/>
        </p:nvSpPr>
        <p:spPr>
          <a:xfrm>
            <a:off x="12168554" y="7415684"/>
            <a:ext cx="2341266" cy="713433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9595" y="448151"/>
            <a:ext cx="4688562" cy="30515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400"/>
              </a:lnSpc>
              <a:buNone/>
            </a:pPr>
            <a:r>
              <a:rPr lang="en-US" sz="19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5. INDICADORES E CONCLUSÃO (Benchmark)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569595" y="818317"/>
            <a:ext cx="5157430" cy="50863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000"/>
              </a:lnSpc>
              <a:buNone/>
            </a:pPr>
            <a:r>
              <a:rPr lang="en-US" sz="320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KPIs e Métricas de Compliance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569595" y="1571030"/>
            <a:ext cx="4388525" cy="3004661"/>
          </a:xfrm>
          <a:prstGeom prst="roundRect">
            <a:avLst>
              <a:gd name="adj" fmla="val 813"/>
            </a:avLst>
          </a:prstGeom>
          <a:solidFill>
            <a:srgbClr val="F2EEEE"/>
          </a:solidFill>
          <a:ln/>
        </p:spPr>
      </p:sp>
      <p:sp>
        <p:nvSpPr>
          <p:cNvPr id="5" name="Shape 3"/>
          <p:cNvSpPr/>
          <p:nvPr/>
        </p:nvSpPr>
        <p:spPr>
          <a:xfrm>
            <a:off x="732353" y="1733788"/>
            <a:ext cx="488275" cy="488275"/>
          </a:xfrm>
          <a:prstGeom prst="roundRect">
            <a:avLst>
              <a:gd name="adj" fmla="val 18725279"/>
            </a:avLst>
          </a:prstGeom>
          <a:solidFill>
            <a:srgbClr val="2150FE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66656" y="1867972"/>
            <a:ext cx="219670" cy="21967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32353" y="2384822"/>
            <a:ext cx="2057638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Indicadores de Processo: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2353" y="2736771"/>
            <a:ext cx="4063008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Taxa de conformidade em auditorias (Meta: &gt;95%)</a:t>
            </a:r>
            <a:endParaRPr lang="en-US" sz="1250" dirty="0"/>
          </a:p>
        </p:txBody>
      </p:sp>
      <p:sp>
        <p:nvSpPr>
          <p:cNvPr id="9" name="Text 6"/>
          <p:cNvSpPr/>
          <p:nvPr/>
        </p:nvSpPr>
        <p:spPr>
          <a:xfrm>
            <a:off x="732353" y="3054072"/>
            <a:ext cx="4063008" cy="520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Tempo médio de remediação de não conformidades (Meta: &lt;30 dias)</a:t>
            </a:r>
            <a:endParaRPr lang="en-US" sz="1250" dirty="0"/>
          </a:p>
        </p:txBody>
      </p:sp>
      <p:sp>
        <p:nvSpPr>
          <p:cNvPr id="10" name="Text 7"/>
          <p:cNvSpPr/>
          <p:nvPr/>
        </p:nvSpPr>
        <p:spPr>
          <a:xfrm>
            <a:off x="732353" y="3631763"/>
            <a:ext cx="4063008" cy="520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Percentual de sistemas com certificação ISO 27001 (Meta: 100% sistemas críticos)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5120878" y="1571030"/>
            <a:ext cx="4388525" cy="3004661"/>
          </a:xfrm>
          <a:prstGeom prst="roundRect">
            <a:avLst>
              <a:gd name="adj" fmla="val 813"/>
            </a:avLst>
          </a:prstGeom>
          <a:solidFill>
            <a:srgbClr val="F2EEEE"/>
          </a:solidFill>
          <a:ln/>
        </p:spPr>
      </p:sp>
      <p:sp>
        <p:nvSpPr>
          <p:cNvPr id="12" name="Shape 9"/>
          <p:cNvSpPr/>
          <p:nvPr/>
        </p:nvSpPr>
        <p:spPr>
          <a:xfrm>
            <a:off x="5283637" y="1733788"/>
            <a:ext cx="488275" cy="488275"/>
          </a:xfrm>
          <a:prstGeom prst="roundRect">
            <a:avLst>
              <a:gd name="adj" fmla="val 18725279"/>
            </a:avLst>
          </a:prstGeom>
          <a:solidFill>
            <a:srgbClr val="2150FE"/>
          </a:solidFill>
          <a:ln/>
        </p:spPr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417939" y="1867972"/>
            <a:ext cx="219670" cy="21967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83637" y="2384822"/>
            <a:ext cx="2200275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Indicadores de Segurança:</a:t>
            </a:r>
            <a:endParaRPr lang="en-US" sz="1600" dirty="0"/>
          </a:p>
        </p:txBody>
      </p:sp>
      <p:sp>
        <p:nvSpPr>
          <p:cNvPr id="15" name="Text 11"/>
          <p:cNvSpPr/>
          <p:nvPr/>
        </p:nvSpPr>
        <p:spPr>
          <a:xfrm>
            <a:off x="5283637" y="2736771"/>
            <a:ext cx="4063008" cy="520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Número de incidentes de segurança (tendência decrescente)</a:t>
            </a:r>
            <a:endParaRPr lang="en-US" sz="1250" dirty="0"/>
          </a:p>
        </p:txBody>
      </p:sp>
      <p:sp>
        <p:nvSpPr>
          <p:cNvPr id="16" name="Text 12"/>
          <p:cNvSpPr/>
          <p:nvPr/>
        </p:nvSpPr>
        <p:spPr>
          <a:xfrm>
            <a:off x="5283637" y="3314462"/>
            <a:ext cx="4063008" cy="520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Tempo médio de detecção (MTTD) e resposta (MTTR) a incidentes (Meta: &lt;24h)</a:t>
            </a:r>
            <a:endParaRPr lang="en-US" sz="1250" dirty="0"/>
          </a:p>
        </p:txBody>
      </p:sp>
      <p:sp>
        <p:nvSpPr>
          <p:cNvPr id="17" name="Text 13"/>
          <p:cNvSpPr/>
          <p:nvPr/>
        </p:nvSpPr>
        <p:spPr>
          <a:xfrm>
            <a:off x="5283637" y="3892153"/>
            <a:ext cx="4063008" cy="520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Percentual de vulnerabilidades críticas remediadas em SLA (Meta: &gt;98%)</a:t>
            </a:r>
            <a:endParaRPr lang="en-US" sz="1250" dirty="0"/>
          </a:p>
        </p:txBody>
      </p:sp>
      <p:sp>
        <p:nvSpPr>
          <p:cNvPr id="18" name="Shape 14"/>
          <p:cNvSpPr/>
          <p:nvPr/>
        </p:nvSpPr>
        <p:spPr>
          <a:xfrm>
            <a:off x="9672161" y="1571030"/>
            <a:ext cx="4388644" cy="3004661"/>
          </a:xfrm>
          <a:prstGeom prst="roundRect">
            <a:avLst>
              <a:gd name="adj" fmla="val 813"/>
            </a:avLst>
          </a:prstGeom>
          <a:solidFill>
            <a:srgbClr val="F2EEEE"/>
          </a:solidFill>
          <a:ln/>
        </p:spPr>
      </p:sp>
      <p:sp>
        <p:nvSpPr>
          <p:cNvPr id="19" name="Shape 15"/>
          <p:cNvSpPr/>
          <p:nvPr/>
        </p:nvSpPr>
        <p:spPr>
          <a:xfrm>
            <a:off x="9834920" y="1733788"/>
            <a:ext cx="488275" cy="488275"/>
          </a:xfrm>
          <a:prstGeom prst="roundRect">
            <a:avLst>
              <a:gd name="adj" fmla="val 18725279"/>
            </a:avLst>
          </a:prstGeom>
          <a:solidFill>
            <a:srgbClr val="2150FE"/>
          </a:solidFill>
          <a:ln/>
        </p:spPr>
      </p:sp>
      <p:pic>
        <p:nvPicPr>
          <p:cNvPr id="20" name="Image 2" descr="preencoded.png"/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9969222" y="1867972"/>
            <a:ext cx="219670" cy="219670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9834920" y="2384822"/>
            <a:ext cx="2424470" cy="2543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000"/>
              </a:lnSpc>
              <a:buNone/>
            </a:pPr>
            <a:r>
              <a:rPr lang="en-US" sz="1600" dirty="0">
                <a:solidFill>
                  <a:srgbClr val="4C4C4D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Indicadores de Treinamento:</a:t>
            </a:r>
            <a:endParaRPr lang="en-US" sz="1600" dirty="0"/>
          </a:p>
        </p:txBody>
      </p:sp>
      <p:sp>
        <p:nvSpPr>
          <p:cNvPr id="22" name="Text 17"/>
          <p:cNvSpPr/>
          <p:nvPr/>
        </p:nvSpPr>
        <p:spPr>
          <a:xfrm>
            <a:off x="9834920" y="2736771"/>
            <a:ext cx="4063127" cy="520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Taxa de conclusão de treinamentos de compliance (Meta: 100%)</a:t>
            </a:r>
            <a:endParaRPr lang="en-US" sz="1250" dirty="0"/>
          </a:p>
        </p:txBody>
      </p:sp>
      <p:sp>
        <p:nvSpPr>
          <p:cNvPr id="23" name="Text 18"/>
          <p:cNvSpPr/>
          <p:nvPr/>
        </p:nvSpPr>
        <p:spPr>
          <a:xfrm>
            <a:off x="9834920" y="3314462"/>
            <a:ext cx="4063127" cy="520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Resultado em simulações de phishing (Meta: &lt;5% de cliques)</a:t>
            </a:r>
            <a:endParaRPr lang="en-US" sz="1250" dirty="0"/>
          </a:p>
        </p:txBody>
      </p:sp>
      <p:sp>
        <p:nvSpPr>
          <p:cNvPr id="24" name="Text 19"/>
          <p:cNvSpPr/>
          <p:nvPr/>
        </p:nvSpPr>
        <p:spPr>
          <a:xfrm>
            <a:off x="569595" y="4819769"/>
            <a:ext cx="3400187" cy="406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Benchmarks de Mercado:</a:t>
            </a:r>
            <a:endParaRPr lang="en-US" sz="2550" dirty="0"/>
          </a:p>
        </p:txBody>
      </p:sp>
      <p:sp>
        <p:nvSpPr>
          <p:cNvPr id="25" name="Text 20"/>
          <p:cNvSpPr/>
          <p:nvPr/>
        </p:nvSpPr>
        <p:spPr>
          <a:xfrm>
            <a:off x="569595" y="5470684"/>
            <a:ext cx="13491210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Investimento médio: 5-8% do orçamento de TI em compliance e segurança</a:t>
            </a:r>
            <a:endParaRPr lang="en-US" sz="1250" dirty="0"/>
          </a:p>
        </p:txBody>
      </p:sp>
      <p:sp>
        <p:nvSpPr>
          <p:cNvPr id="26" name="Text 21"/>
          <p:cNvSpPr/>
          <p:nvPr/>
        </p:nvSpPr>
        <p:spPr>
          <a:xfrm>
            <a:off x="569595" y="5787985"/>
            <a:ext cx="13491210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Empresas maduras: auditoria completa anual + revisões trimestrais</a:t>
            </a:r>
            <a:endParaRPr lang="en-US" sz="1250" dirty="0"/>
          </a:p>
        </p:txBody>
      </p:sp>
      <p:sp>
        <p:nvSpPr>
          <p:cNvPr id="27" name="Text 22"/>
          <p:cNvSpPr/>
          <p:nvPr/>
        </p:nvSpPr>
        <p:spPr>
          <a:xfrm>
            <a:off x="569595" y="6105287"/>
            <a:ext cx="13491210" cy="26039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050"/>
              </a:lnSpc>
              <a:buSzPct val="100000"/>
              <a:buChar char="•"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Certificação ISO 27001: presente em 67% das grandes empresas brasileiras</a:t>
            </a:r>
            <a:endParaRPr lang="en-US" sz="1250" dirty="0"/>
          </a:p>
        </p:txBody>
      </p:sp>
      <p:sp>
        <p:nvSpPr>
          <p:cNvPr id="28" name="Text 23"/>
          <p:cNvSpPr/>
          <p:nvPr/>
        </p:nvSpPr>
        <p:spPr>
          <a:xfrm>
            <a:off x="569595" y="6609755"/>
            <a:ext cx="3255288" cy="40683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200"/>
              </a:lnSpc>
              <a:buNone/>
            </a:pPr>
            <a:r>
              <a:rPr lang="en-US" sz="2550" dirty="0">
                <a:solidFill>
                  <a:srgbClr val="152D47"/>
                </a:solidFill>
                <a:latin typeface="Crimson Pro Semi Bold" pitchFamily="34" charset="0"/>
                <a:ea typeface="Crimson Pro Semi Bold" pitchFamily="34" charset="-122"/>
                <a:cs typeface="Crimson Pro Semi Bold" pitchFamily="34" charset="-120"/>
              </a:rPr>
              <a:t>Conclusão:</a:t>
            </a:r>
            <a:endParaRPr lang="en-US" sz="2550" dirty="0"/>
          </a:p>
        </p:txBody>
      </p:sp>
      <p:sp>
        <p:nvSpPr>
          <p:cNvPr id="29" name="Text 24"/>
          <p:cNvSpPr/>
          <p:nvPr/>
        </p:nvSpPr>
        <p:spPr>
          <a:xfrm>
            <a:off x="569595" y="7260669"/>
            <a:ext cx="13491210" cy="52077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050"/>
              </a:lnSpc>
              <a:buNone/>
            </a:pPr>
            <a:r>
              <a:rPr lang="en-US" sz="1250" dirty="0">
                <a:solidFill>
                  <a:srgbClr val="4C4C4D"/>
                </a:solidFill>
                <a:latin typeface="Heebo" pitchFamily="34" charset="0"/>
                <a:ea typeface="Heebo" pitchFamily="34" charset="-122"/>
                <a:cs typeface="Heebo" pitchFamily="34" charset="-120"/>
              </a:rPr>
              <a:t>Compliance e Auditoria de TI não são custos, mas investimentos estratégicos em resiliência, reputação e sustentabilidade dos negócios. O caso Renner demonstra que negligenciar governança resulta em prejuízos que superam largamente os investimentos preventivos necessários.</a:t>
            </a:r>
            <a:endParaRPr lang="en-US" sz="1250" dirty="0"/>
          </a:p>
        </p:txBody>
      </p:sp>
      <p:sp>
        <p:nvSpPr>
          <p:cNvPr id="30" name="Retângulo 29">
            <a:extLst>
              <a:ext uri="{FF2B5EF4-FFF2-40B4-BE49-F238E27FC236}">
                <a16:creationId xmlns:a16="http://schemas.microsoft.com/office/drawing/2014/main" id="{1CBFB5D9-81DD-8AD8-A574-1C85CF0A7DB6}"/>
              </a:ext>
            </a:extLst>
          </p:cNvPr>
          <p:cNvSpPr/>
          <p:nvPr/>
        </p:nvSpPr>
        <p:spPr>
          <a:xfrm>
            <a:off x="12168554" y="7608338"/>
            <a:ext cx="2341266" cy="520779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852</Words>
  <Application>Microsoft Office PowerPoint</Application>
  <PresentationFormat>Personalizar</PresentationFormat>
  <Paragraphs>80</Paragraphs>
  <Slides>5</Slides>
  <Notes>5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5</vt:i4>
      </vt:variant>
    </vt:vector>
  </HeadingPairs>
  <TitlesOfParts>
    <vt:vector size="9" baseType="lpstr">
      <vt:lpstr>Crimson Pro Semi Bold</vt:lpstr>
      <vt:lpstr>Heebo</vt:lpstr>
      <vt:lpstr>Arial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Luiz Carlos Souza</cp:lastModifiedBy>
  <cp:revision>2</cp:revision>
  <dcterms:created xsi:type="dcterms:W3CDTF">2025-11-28T20:59:18Z</dcterms:created>
  <dcterms:modified xsi:type="dcterms:W3CDTF">2025-11-28T21:01:28Z</dcterms:modified>
</cp:coreProperties>
</file>