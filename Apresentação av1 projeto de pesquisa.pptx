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6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rGT0c73qDXk1lPpXt3cQ+mov6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B143F67B-13BD-4A95-A8B3-010BF1C1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01D40C2E-2ACD-3441-015E-9D03E6B493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28DAF7D3-3C09-3424-FE46-2D2719DF4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0862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0BBC904C-798B-222B-FD46-121D24C38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6D2B1226-1F21-6721-3B1B-23749C5736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89E51B1A-05B5-B28A-8803-553E65E5A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87808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BE287745-D869-BC49-3B76-ACBF4DC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DE4EA01D-FD8D-BCDA-8CBB-DE46C9CD9F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122333B4-C50F-4AF6-4D08-51C23C82C0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8362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E0C82A9E-4D92-62F8-FA4C-9D243B280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3BBD8975-91D7-A5D9-0210-D688CAE8BD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EDEF0932-9F83-6E5A-61B1-3A22B2D613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4403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96B5E7F2-96A2-C493-F83C-3A3C04BF3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B630CC64-E4B4-6EB4-1445-7995D87EE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E0B72451-1CF0-01A3-E46F-8DCA5E8AD8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1562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54E325BF-4483-4994-A3FE-B87EC65DD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6AD6929E-6939-AE88-DEF1-840CDBDC4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C0EB155B-A47C-1D40-72E8-B9550844CD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499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300394E5-8A95-199A-CF4E-C15CC4579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D2426FCC-0AEA-576C-0FB7-2A3D8956D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1FE0C4B1-5AC5-5753-D51F-96148D8A8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9463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7D96DE56-9EB1-1F49-CA2E-CE61E531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78249A21-22AB-5C80-5777-8702C70FC3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DB1B5A6C-5685-40C7-89E3-E98D69E1A9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6615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6547C371-6AC5-D585-8A00-1241000D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933B517F-3781-E3CE-851B-329FB059D1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90F4311B-7A59-6017-F82A-B5B8BBA700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3131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294600" y="1395525"/>
            <a:ext cx="11602800" cy="19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Detecção Automatizada no Pavimento Usando Visão Computacional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Luiz Fernando Zamboti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Vinicius Mota de Souza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Orientador: Marcelo Arantes de Oliveira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2025</a:t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137" y="320384"/>
            <a:ext cx="951865" cy="1233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Introdução</a:t>
            </a:r>
            <a:endParaRPr dirty="0"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974000" cy="46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Problema:</a:t>
            </a: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>
              <a:lnSpc>
                <a:spcPct val="100000"/>
              </a:lnSpc>
            </a:pPr>
            <a:r>
              <a:rPr lang="pt-BR" b="1" dirty="0"/>
              <a:t>67% das rodovias</a:t>
            </a:r>
            <a:r>
              <a:rPr lang="pt-BR" dirty="0"/>
              <a:t> classificadas como Regular, Ruim ou Péssimo (CNT, 2024)</a:t>
            </a:r>
          </a:p>
          <a:p>
            <a:pPr>
              <a:lnSpc>
                <a:spcPct val="100000"/>
              </a:lnSpc>
            </a:pPr>
            <a:r>
              <a:rPr lang="pt-BR" b="1" dirty="0"/>
              <a:t>BR-393 em Volta Redonda:</a:t>
            </a:r>
            <a:r>
              <a:rPr lang="pt-BR" dirty="0"/>
              <a:t> 30 buracos em apenas 30 metros</a:t>
            </a:r>
          </a:p>
          <a:p>
            <a:pPr>
              <a:lnSpc>
                <a:spcPct val="100000"/>
              </a:lnSpc>
            </a:pPr>
            <a:r>
              <a:rPr lang="pt-BR" b="1" dirty="0"/>
              <a:t>Custos com acidentes:</a:t>
            </a:r>
            <a:r>
              <a:rPr lang="pt-BR" dirty="0"/>
              <a:t> R$ 125,56 bilhões acumulados (2016-2024)</a:t>
            </a:r>
          </a:p>
          <a:p>
            <a:pPr>
              <a:lnSpc>
                <a:spcPct val="100000"/>
              </a:lnSpc>
            </a:pPr>
            <a:r>
              <a:rPr lang="pt-BR" b="1" dirty="0"/>
              <a:t>Aumento de 32,7%</a:t>
            </a:r>
            <a:r>
              <a:rPr lang="pt-BR" dirty="0"/>
              <a:t> nos custos operacionais em vias ruins</a:t>
            </a:r>
          </a:p>
          <a:p>
            <a:pPr>
              <a:lnSpc>
                <a:spcPct val="100000"/>
              </a:lnSpc>
            </a:pPr>
            <a:r>
              <a:rPr lang="pt-BR" b="1" dirty="0"/>
              <a:t>Problema Atual:</a:t>
            </a:r>
            <a:r>
              <a:rPr lang="pt-BR" dirty="0"/>
              <a:t> Inspeções manuais são lentas, imprecisas e caras</a:t>
            </a: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pt-BR" dirty="0"/>
              <a:t>Nossa Proposta</a:t>
            </a:r>
            <a:endParaRPr dirty="0"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838200" y="1734425"/>
            <a:ext cx="10515600" cy="4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pt-BR" b="1" dirty="0"/>
              <a:t>Sistema Inteligente de Detecção</a:t>
            </a:r>
          </a:p>
          <a:p>
            <a:pPr marL="114300" indent="0">
              <a:buNone/>
            </a:pPr>
            <a:endParaRPr lang="pt-BR" dirty="0"/>
          </a:p>
          <a:p>
            <a:r>
              <a:rPr lang="pt-BR" dirty="0"/>
              <a:t>Desenvolver uma solução automatizada que combina:</a:t>
            </a:r>
          </a:p>
          <a:p>
            <a:pPr lvl="1"/>
            <a:r>
              <a:rPr lang="pt-BR" b="1" dirty="0"/>
              <a:t>Visão Computacional</a:t>
            </a:r>
            <a:r>
              <a:rPr lang="pt-BR" dirty="0"/>
              <a:t> para detectar buracos</a:t>
            </a:r>
          </a:p>
          <a:p>
            <a:pPr lvl="1"/>
            <a:r>
              <a:rPr lang="pt-BR" b="1" dirty="0"/>
              <a:t>Geolocalização</a:t>
            </a:r>
            <a:r>
              <a:rPr lang="pt-BR" dirty="0"/>
              <a:t> para mapear as ocorrências</a:t>
            </a:r>
          </a:p>
          <a:p>
            <a:pPr lvl="1"/>
            <a:r>
              <a:rPr lang="pt-BR" b="1" dirty="0"/>
              <a:t>Aplicativo Mobile</a:t>
            </a:r>
            <a:r>
              <a:rPr lang="pt-BR" dirty="0"/>
              <a:t> para visualização em tempo real</a:t>
            </a:r>
          </a:p>
          <a:p>
            <a:pPr lvl="1"/>
            <a:r>
              <a:rPr lang="pt-BR" b="1" dirty="0"/>
              <a:t>Objetivo:</a:t>
            </a:r>
            <a:r>
              <a:rPr lang="pt-BR" dirty="0"/>
              <a:t> Tornar a manutenção viária mais rápida, eficiente e econômica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pt-BR" dirty="0"/>
              <a:t>Arquitetura do Sistema</a:t>
            </a:r>
            <a:endParaRPr dirty="0"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114300" indent="0">
              <a:buNone/>
            </a:pPr>
            <a:r>
              <a:rPr lang="pt-BR" b="1" dirty="0"/>
              <a:t>Três Camadas Integradas</a:t>
            </a:r>
          </a:p>
          <a:p>
            <a:pPr marL="114300" indent="0">
              <a:buNone/>
            </a:pPr>
            <a:endParaRPr lang="pt-BR" dirty="0"/>
          </a:p>
          <a:p>
            <a:pPr marL="114300" indent="0">
              <a:buNone/>
            </a:pPr>
            <a:r>
              <a:rPr lang="pt-BR" b="1" dirty="0"/>
              <a:t>1. Detecção (IA)</a:t>
            </a:r>
            <a:endParaRPr lang="pt-BR" dirty="0"/>
          </a:p>
          <a:p>
            <a:r>
              <a:rPr lang="pt-BR" dirty="0"/>
              <a:t>Modelo YOLOv8n</a:t>
            </a:r>
          </a:p>
          <a:p>
            <a:r>
              <a:rPr lang="pt-BR" dirty="0"/>
              <a:t>Processamento em tempo real</a:t>
            </a:r>
          </a:p>
          <a:p>
            <a:r>
              <a:rPr lang="pt-BR" dirty="0"/>
              <a:t>Precisão de 80,8%</a:t>
            </a:r>
          </a:p>
          <a:p>
            <a:pPr marL="114300" indent="0">
              <a:buNone/>
            </a:pPr>
            <a:endParaRPr lang="pt-BR" dirty="0"/>
          </a:p>
          <a:p>
            <a:pPr marL="114300" indent="0">
              <a:buNone/>
            </a:pPr>
            <a:r>
              <a:rPr lang="pt-BR" b="1" dirty="0"/>
              <a:t>2. </a:t>
            </a:r>
            <a:r>
              <a:rPr lang="pt-BR" b="1" dirty="0" err="1"/>
              <a:t>Backend</a:t>
            </a:r>
            <a:endParaRPr lang="pt-BR" dirty="0"/>
          </a:p>
          <a:p>
            <a:r>
              <a:rPr lang="pt-BR" dirty="0"/>
              <a:t>API REST (</a:t>
            </a:r>
            <a:r>
              <a:rPr lang="pt-BR" dirty="0" err="1"/>
              <a:t>FastAPI</a:t>
            </a:r>
            <a:r>
              <a:rPr lang="pt-BR" dirty="0"/>
              <a:t>)</a:t>
            </a:r>
          </a:p>
          <a:p>
            <a:r>
              <a:rPr lang="pt-BR" dirty="0"/>
              <a:t>Banco geoespacial (PostgreSQL + </a:t>
            </a:r>
            <a:r>
              <a:rPr lang="pt-BR" dirty="0" err="1"/>
              <a:t>PostGIS</a:t>
            </a:r>
            <a:r>
              <a:rPr lang="pt-BR" dirty="0"/>
              <a:t>)</a:t>
            </a:r>
          </a:p>
          <a:p>
            <a:r>
              <a:rPr lang="pt-BR" dirty="0"/>
              <a:t>Detecção de duplicatas (raio de 5m)</a:t>
            </a:r>
          </a:p>
          <a:p>
            <a:pPr marL="114300" indent="0">
              <a:buNone/>
            </a:pPr>
            <a:endParaRPr lang="pt-BR" dirty="0"/>
          </a:p>
          <a:p>
            <a:pPr marL="114300" indent="0">
              <a:buNone/>
            </a:pPr>
            <a:r>
              <a:rPr lang="pt-BR" b="1" dirty="0"/>
              <a:t>3. Aplicativo Mobile</a:t>
            </a:r>
            <a:endParaRPr lang="pt-BR" dirty="0"/>
          </a:p>
          <a:p>
            <a:r>
              <a:rPr lang="pt-BR" dirty="0"/>
              <a:t>Interface </a:t>
            </a:r>
            <a:r>
              <a:rPr lang="pt-BR" dirty="0" err="1"/>
              <a:t>Flutter</a:t>
            </a:r>
            <a:endParaRPr lang="pt-BR" dirty="0"/>
          </a:p>
          <a:p>
            <a:r>
              <a:rPr lang="pt-BR" dirty="0"/>
              <a:t>Mapa interativo</a:t>
            </a:r>
          </a:p>
          <a:p>
            <a:r>
              <a:rPr lang="pt-BR" dirty="0"/>
              <a:t>Captura e visualização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E7A8638B-2710-39D9-2CE4-82195CF6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>
            <a:extLst>
              <a:ext uri="{FF2B5EF4-FFF2-40B4-BE49-F238E27FC236}">
                <a16:creationId xmlns:a16="http://schemas.microsoft.com/office/drawing/2014/main" id="{DE4EC02D-CD09-38EF-85C5-A2C73AF946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pt-BR" dirty="0"/>
              <a:t>Tecnologia - YOLOv8</a:t>
            </a:r>
            <a:endParaRPr dirty="0"/>
          </a:p>
        </p:txBody>
      </p:sp>
      <p:sp>
        <p:nvSpPr>
          <p:cNvPr id="104" name="Google Shape;104;p4">
            <a:extLst>
              <a:ext uri="{FF2B5EF4-FFF2-40B4-BE49-F238E27FC236}">
                <a16:creationId xmlns:a16="http://schemas.microsoft.com/office/drawing/2014/main" id="{269AD149-01AC-65A5-6100-05CA5BEF12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pt-BR" b="1" dirty="0"/>
              <a:t>Por que escolhemos o YOLOv8?</a:t>
            </a:r>
            <a:endParaRPr lang="pt-BR" dirty="0"/>
          </a:p>
          <a:p>
            <a:r>
              <a:rPr lang="pt-BR" b="1" dirty="0"/>
              <a:t>Rápido:</a:t>
            </a:r>
            <a:r>
              <a:rPr lang="pt-BR" dirty="0"/>
              <a:t> Detecção em tempo real (0,3s por imagem)</a:t>
            </a:r>
          </a:p>
          <a:p>
            <a:r>
              <a:rPr lang="pt-BR" b="1" dirty="0"/>
              <a:t>Preciso:</a:t>
            </a:r>
            <a:r>
              <a:rPr lang="pt-BR" dirty="0"/>
              <a:t> Arquitetura otimizada com múltiplas escalas</a:t>
            </a:r>
          </a:p>
          <a:p>
            <a:r>
              <a:rPr lang="pt-BR" b="1" dirty="0"/>
              <a:t>Leve:</a:t>
            </a:r>
            <a:r>
              <a:rPr lang="pt-BR" dirty="0"/>
              <a:t> Versão nano ideal para dispositivos móveis</a:t>
            </a:r>
          </a:p>
          <a:p>
            <a:r>
              <a:rPr lang="pt-BR" b="1" dirty="0"/>
              <a:t>Treinamento:</a:t>
            </a:r>
            <a:endParaRPr lang="pt-BR" dirty="0"/>
          </a:p>
          <a:p>
            <a:r>
              <a:rPr lang="pt-BR" dirty="0"/>
              <a:t>5.200 imagens de 4 </a:t>
            </a:r>
            <a:r>
              <a:rPr lang="pt-BR" dirty="0" err="1"/>
              <a:t>datasets</a:t>
            </a:r>
            <a:r>
              <a:rPr lang="pt-BR" dirty="0"/>
              <a:t> diferentes</a:t>
            </a:r>
          </a:p>
          <a:p>
            <a:r>
              <a:rPr lang="pt-BR" dirty="0"/>
              <a:t>50 épocas (6 horas de treinamento)</a:t>
            </a:r>
          </a:p>
          <a:p>
            <a:r>
              <a:rPr lang="pt-BR" dirty="0"/>
              <a:t>GPU Tesla T4</a:t>
            </a:r>
          </a:p>
        </p:txBody>
      </p:sp>
    </p:spTree>
    <p:extLst>
      <p:ext uri="{BB962C8B-B14F-4D97-AF65-F5344CB8AC3E}">
        <p14:creationId xmlns:p14="http://schemas.microsoft.com/office/powerpoint/2010/main" val="54454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BF3D8C63-018D-87B7-4104-34FBCE09B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>
            <a:extLst>
              <a:ext uri="{FF2B5EF4-FFF2-40B4-BE49-F238E27FC236}">
                <a16:creationId xmlns:a16="http://schemas.microsoft.com/office/drawing/2014/main" id="{C95AF7FD-A5A8-6DD2-0817-B823170783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pt-BR" dirty="0"/>
              <a:t>Preparação dos Dados</a:t>
            </a:r>
            <a:endParaRPr dirty="0"/>
          </a:p>
        </p:txBody>
      </p:sp>
      <p:sp>
        <p:nvSpPr>
          <p:cNvPr id="104" name="Google Shape;104;p4">
            <a:extLst>
              <a:ext uri="{FF2B5EF4-FFF2-40B4-BE49-F238E27FC236}">
                <a16:creationId xmlns:a16="http://schemas.microsoft.com/office/drawing/2014/main" id="{54B54AA5-E6DA-78BD-C09E-F99C8EB1D0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pt-BR" b="1" dirty="0"/>
              <a:t>De onde vieram as imagens?</a:t>
            </a:r>
            <a:endParaRPr lang="pt-BR" dirty="0"/>
          </a:p>
          <a:p>
            <a:r>
              <a:rPr lang="pt-BR" b="1" dirty="0" err="1"/>
              <a:t>Datasets</a:t>
            </a:r>
            <a:r>
              <a:rPr lang="pt-BR" b="1" dirty="0"/>
              <a:t> utilizados:</a:t>
            </a:r>
            <a:endParaRPr lang="pt-BR" dirty="0"/>
          </a:p>
          <a:p>
            <a:pPr lvl="1"/>
            <a:r>
              <a:rPr lang="pt-BR" dirty="0"/>
              <a:t>3.500 imagens de baseline</a:t>
            </a:r>
          </a:p>
          <a:p>
            <a:pPr lvl="1"/>
            <a:r>
              <a:rPr lang="pt-BR" dirty="0"/>
              <a:t>1.200 imagens do </a:t>
            </a:r>
            <a:r>
              <a:rPr lang="pt-BR" dirty="0" err="1"/>
              <a:t>Pothole</a:t>
            </a:r>
            <a:r>
              <a:rPr lang="pt-BR" dirty="0"/>
              <a:t> </a:t>
            </a:r>
            <a:r>
              <a:rPr lang="pt-BR" dirty="0" err="1"/>
              <a:t>Segmentation</a:t>
            </a:r>
            <a:r>
              <a:rPr lang="pt-BR" dirty="0"/>
              <a:t> </a:t>
            </a:r>
            <a:r>
              <a:rPr lang="pt-BR" dirty="0" err="1"/>
              <a:t>Dataset</a:t>
            </a:r>
            <a:endParaRPr lang="pt-BR" dirty="0"/>
          </a:p>
          <a:p>
            <a:r>
              <a:rPr lang="pt-BR" b="1" dirty="0"/>
              <a:t>500 imagens próprias</a:t>
            </a:r>
            <a:r>
              <a:rPr lang="pt-BR" dirty="0"/>
              <a:t> coletadas na região Sul Fluminense</a:t>
            </a:r>
          </a:p>
          <a:p>
            <a:r>
              <a:rPr lang="pt-BR" b="1" dirty="0"/>
              <a:t>Processamento:</a:t>
            </a:r>
            <a:endParaRPr lang="pt-BR" dirty="0"/>
          </a:p>
          <a:p>
            <a:pPr lvl="1"/>
            <a:r>
              <a:rPr lang="pt-BR" dirty="0"/>
              <a:t>Redimensionamento para 640x640 pixels</a:t>
            </a:r>
          </a:p>
          <a:p>
            <a:pPr lvl="1"/>
            <a:r>
              <a:rPr lang="pt-BR" dirty="0"/>
              <a:t>Anotação manual com classificação de severidade</a:t>
            </a:r>
          </a:p>
          <a:p>
            <a:pPr lvl="1"/>
            <a:r>
              <a:rPr lang="pt-BR" dirty="0"/>
              <a:t>Técnicas de </a:t>
            </a:r>
            <a:r>
              <a:rPr lang="pt-BR" dirty="0" err="1"/>
              <a:t>augmentation</a:t>
            </a:r>
            <a:r>
              <a:rPr lang="pt-BR" dirty="0"/>
              <a:t> para robustez</a:t>
            </a:r>
          </a:p>
        </p:txBody>
      </p:sp>
    </p:spTree>
    <p:extLst>
      <p:ext uri="{BB962C8B-B14F-4D97-AF65-F5344CB8AC3E}">
        <p14:creationId xmlns:p14="http://schemas.microsoft.com/office/powerpoint/2010/main" val="479655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3042366D-249E-C728-D264-56F5D069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>
            <a:extLst>
              <a:ext uri="{FF2B5EF4-FFF2-40B4-BE49-F238E27FC236}">
                <a16:creationId xmlns:a16="http://schemas.microsoft.com/office/drawing/2014/main" id="{8FF8A35A-2AF5-87BE-DF50-558EFF04B5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pt-BR" dirty="0"/>
              <a:t>Resultados do Modelo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D121BDC-6DE9-F9AF-4E9F-27676E52D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27" y="2394475"/>
            <a:ext cx="5349255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06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E73AB686-518B-6BF2-D09B-8FD1986BF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>
            <a:extLst>
              <a:ext uri="{FF2B5EF4-FFF2-40B4-BE49-F238E27FC236}">
                <a16:creationId xmlns:a16="http://schemas.microsoft.com/office/drawing/2014/main" id="{DCA0E178-547E-A924-7C7B-3AD3F85E8A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pt-BR" dirty="0"/>
              <a:t>Funcionalidades Principais</a:t>
            </a:r>
            <a:endParaRPr dirty="0"/>
          </a:p>
        </p:txBody>
      </p:sp>
      <p:sp>
        <p:nvSpPr>
          <p:cNvPr id="104" name="Google Shape;104;p4">
            <a:extLst>
              <a:ext uri="{FF2B5EF4-FFF2-40B4-BE49-F238E27FC236}">
                <a16:creationId xmlns:a16="http://schemas.microsoft.com/office/drawing/2014/main" id="{7F45D9E4-40F7-203F-B8A3-3B8A95E38B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14300" indent="0">
              <a:buNone/>
            </a:pPr>
            <a:r>
              <a:rPr lang="pt-BR" b="1" dirty="0"/>
              <a:t>O que o sistema oferece</a:t>
            </a:r>
            <a:endParaRPr lang="pt-BR" dirty="0"/>
          </a:p>
          <a:p>
            <a:r>
              <a:rPr lang="pt-BR" b="1" dirty="0"/>
              <a:t>Para o usuário:</a:t>
            </a:r>
            <a:endParaRPr lang="pt-BR" dirty="0"/>
          </a:p>
          <a:p>
            <a:pPr lvl="1"/>
            <a:r>
              <a:rPr lang="pt-BR" dirty="0"/>
              <a:t>Captura de imagens via câmera</a:t>
            </a:r>
          </a:p>
          <a:p>
            <a:pPr lvl="1"/>
            <a:r>
              <a:rPr lang="pt-BR" dirty="0"/>
              <a:t>Detecção automática instantânea</a:t>
            </a:r>
          </a:p>
          <a:p>
            <a:pPr lvl="1"/>
            <a:r>
              <a:rPr lang="pt-BR" dirty="0"/>
              <a:t>Visualização em mapa interativo</a:t>
            </a:r>
          </a:p>
          <a:p>
            <a:pPr lvl="1"/>
            <a:r>
              <a:rPr lang="pt-BR" dirty="0"/>
              <a:t>Marcadores coloridos por severidade</a:t>
            </a:r>
          </a:p>
          <a:p>
            <a:r>
              <a:rPr lang="pt-BR" b="1" dirty="0"/>
              <a:t>Para gestores:</a:t>
            </a:r>
            <a:endParaRPr lang="pt-BR" dirty="0"/>
          </a:p>
          <a:p>
            <a:pPr lvl="1"/>
            <a:r>
              <a:rPr lang="pt-BR" dirty="0"/>
              <a:t>Dashboard com estatísticas</a:t>
            </a:r>
          </a:p>
          <a:p>
            <a:pPr lvl="1"/>
            <a:r>
              <a:rPr lang="pt-BR" dirty="0"/>
              <a:t>Mapa de calor das ocorrências</a:t>
            </a:r>
          </a:p>
          <a:p>
            <a:pPr lvl="1"/>
            <a:r>
              <a:rPr lang="pt-BR" dirty="0"/>
              <a:t>Priorização baseada em dados</a:t>
            </a:r>
          </a:p>
          <a:p>
            <a:pPr lvl="1"/>
            <a:r>
              <a:rPr lang="pt-BR" dirty="0"/>
              <a:t>API para integração com outros sistemas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9229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DF182BF5-AAA3-1C81-A76D-D6862C2CC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>
            <a:extLst>
              <a:ext uri="{FF2B5EF4-FFF2-40B4-BE49-F238E27FC236}">
                <a16:creationId xmlns:a16="http://schemas.microsoft.com/office/drawing/2014/main" id="{2C6AF63B-457D-D86D-34B3-987B9269C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pt-BR" dirty="0"/>
              <a:t>Análise de Custos</a:t>
            </a:r>
            <a:endParaRPr dirty="0"/>
          </a:p>
        </p:txBody>
      </p:sp>
      <p:sp>
        <p:nvSpPr>
          <p:cNvPr id="104" name="Google Shape;104;p4">
            <a:extLst>
              <a:ext uri="{FF2B5EF4-FFF2-40B4-BE49-F238E27FC236}">
                <a16:creationId xmlns:a16="http://schemas.microsoft.com/office/drawing/2014/main" id="{871CBA27-8677-4736-CB9C-68CE0D13E9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pt-BR" b="1" dirty="0"/>
              <a:t>Solução Acessível</a:t>
            </a:r>
            <a:endParaRPr lang="pt-BR" dirty="0"/>
          </a:p>
          <a:p>
            <a:r>
              <a:rPr lang="pt-BR" b="1" dirty="0"/>
              <a:t>Por Veículo:</a:t>
            </a:r>
            <a:endParaRPr lang="pt-BR" dirty="0"/>
          </a:p>
          <a:p>
            <a:pPr lvl="1"/>
            <a:r>
              <a:rPr lang="pt-BR" dirty="0"/>
              <a:t>Equipamentos: R$ 1.700,00</a:t>
            </a:r>
          </a:p>
          <a:p>
            <a:pPr lvl="1"/>
            <a:r>
              <a:rPr lang="pt-BR" dirty="0"/>
              <a:t>(Câmera, suporte, smartphone, instalação)</a:t>
            </a:r>
          </a:p>
          <a:p>
            <a:r>
              <a:rPr lang="pt-BR" b="1" dirty="0"/>
              <a:t>Infraestrutura (mensal):</a:t>
            </a:r>
            <a:endParaRPr lang="pt-BR" dirty="0"/>
          </a:p>
          <a:p>
            <a:pPr lvl="1"/>
            <a:r>
              <a:rPr lang="pt-BR" dirty="0"/>
              <a:t>Servidor + Banco de dados: R$ 210,00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79842E6-C582-CBDB-E10D-CB1C3925D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58" y="4892477"/>
            <a:ext cx="6468378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894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551CB08E-2F1F-E743-1F78-3F2461568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>
            <a:extLst>
              <a:ext uri="{FF2B5EF4-FFF2-40B4-BE49-F238E27FC236}">
                <a16:creationId xmlns:a16="http://schemas.microsoft.com/office/drawing/2014/main" id="{22371542-29EE-6ABE-A14B-A81F08139E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pt-BR" dirty="0"/>
              <a:t>Impacto e Aplicações</a:t>
            </a:r>
            <a:endParaRPr dirty="0"/>
          </a:p>
        </p:txBody>
      </p:sp>
      <p:sp>
        <p:nvSpPr>
          <p:cNvPr id="104" name="Google Shape;104;p4">
            <a:extLst>
              <a:ext uri="{FF2B5EF4-FFF2-40B4-BE49-F238E27FC236}">
                <a16:creationId xmlns:a16="http://schemas.microsoft.com/office/drawing/2014/main" id="{6EC1EF31-0AAC-9605-304E-3583D89265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pt-BR" b="1" dirty="0"/>
              <a:t>Benefícios Práticos</a:t>
            </a:r>
            <a:endParaRPr lang="pt-BR" dirty="0"/>
          </a:p>
          <a:p>
            <a:r>
              <a:rPr lang="pt-BR" b="1" dirty="0"/>
              <a:t>Para Prefeituras:</a:t>
            </a:r>
            <a:endParaRPr lang="pt-BR" dirty="0"/>
          </a:p>
          <a:p>
            <a:pPr lvl="1"/>
            <a:r>
              <a:rPr lang="pt-BR" dirty="0"/>
              <a:t>Priorização inteligente de reparos</a:t>
            </a:r>
          </a:p>
          <a:p>
            <a:pPr lvl="1"/>
            <a:r>
              <a:rPr lang="pt-BR" dirty="0"/>
              <a:t>Redução de custos operacionais</a:t>
            </a:r>
          </a:p>
          <a:p>
            <a:pPr lvl="1"/>
            <a:r>
              <a:rPr lang="pt-BR" dirty="0"/>
              <a:t>Manutenção preventiva</a:t>
            </a:r>
          </a:p>
          <a:p>
            <a:r>
              <a:rPr lang="pt-BR" b="1" dirty="0"/>
              <a:t>Para Concessionárias:</a:t>
            </a:r>
            <a:endParaRPr lang="pt-BR" dirty="0"/>
          </a:p>
          <a:p>
            <a:pPr lvl="1"/>
            <a:r>
              <a:rPr lang="pt-BR" dirty="0"/>
              <a:t>Monitoramento contínuo</a:t>
            </a:r>
          </a:p>
          <a:p>
            <a:pPr lvl="1"/>
            <a:r>
              <a:rPr lang="pt-BR" dirty="0"/>
              <a:t>Relatórios automáticos</a:t>
            </a:r>
          </a:p>
          <a:p>
            <a:r>
              <a:rPr lang="pt-BR" b="1" dirty="0"/>
              <a:t>Para a Sociedade:</a:t>
            </a:r>
            <a:endParaRPr lang="pt-BR" dirty="0"/>
          </a:p>
          <a:p>
            <a:pPr lvl="1"/>
            <a:r>
              <a:rPr lang="pt-BR" dirty="0"/>
              <a:t>Estradas mais seguras</a:t>
            </a:r>
          </a:p>
          <a:p>
            <a:pPr lvl="1"/>
            <a:r>
              <a:rPr lang="pt-BR" dirty="0"/>
              <a:t>Redução de acidentes</a:t>
            </a:r>
          </a:p>
          <a:p>
            <a:pPr lvl="1"/>
            <a:r>
              <a:rPr lang="pt-BR" dirty="0"/>
              <a:t>Menos gastos com veículos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4768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85DE30F2-6E59-250F-8724-3A54D915A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>
            <a:extLst>
              <a:ext uri="{FF2B5EF4-FFF2-40B4-BE49-F238E27FC236}">
                <a16:creationId xmlns:a16="http://schemas.microsoft.com/office/drawing/2014/main" id="{1FA73323-21D9-790C-4525-4BCC5F7B28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pt-BR" dirty="0"/>
              <a:t>Próximos Passos</a:t>
            </a:r>
            <a:endParaRPr dirty="0"/>
          </a:p>
        </p:txBody>
      </p:sp>
      <p:sp>
        <p:nvSpPr>
          <p:cNvPr id="104" name="Google Shape;104;p4">
            <a:extLst>
              <a:ext uri="{FF2B5EF4-FFF2-40B4-BE49-F238E27FC236}">
                <a16:creationId xmlns:a16="http://schemas.microsoft.com/office/drawing/2014/main" id="{02738CFA-FE93-F86F-3559-87D29A593F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pt-BR" b="1" dirty="0"/>
              <a:t>Evolução do Sistema</a:t>
            </a:r>
            <a:endParaRPr lang="pt-BR" dirty="0"/>
          </a:p>
          <a:p>
            <a:r>
              <a:rPr lang="pt-BR" b="1" dirty="0"/>
              <a:t>Curto Prazo:</a:t>
            </a:r>
            <a:endParaRPr lang="pt-BR" dirty="0"/>
          </a:p>
          <a:p>
            <a:pPr lvl="1"/>
            <a:r>
              <a:rPr lang="pt-BR" dirty="0"/>
              <a:t>Melhorar detecção noturna e sob chuva</a:t>
            </a:r>
          </a:p>
          <a:p>
            <a:pPr lvl="1"/>
            <a:r>
              <a:rPr lang="pt-BR" dirty="0"/>
              <a:t>Detectar outros defeitos (trincas, ondulações)</a:t>
            </a:r>
          </a:p>
          <a:p>
            <a:r>
              <a:rPr lang="pt-BR" b="1" dirty="0"/>
              <a:t>Médio Prazo:</a:t>
            </a:r>
            <a:endParaRPr lang="pt-BR" dirty="0"/>
          </a:p>
          <a:p>
            <a:pPr lvl="1"/>
            <a:r>
              <a:rPr lang="pt-BR" dirty="0"/>
              <a:t>Integração com sistemas municipais</a:t>
            </a:r>
          </a:p>
          <a:p>
            <a:pPr lvl="1"/>
            <a:r>
              <a:rPr lang="pt-BR" dirty="0"/>
              <a:t>Dashboard web para gestores</a:t>
            </a:r>
          </a:p>
          <a:p>
            <a:pPr lvl="1"/>
            <a:r>
              <a:rPr lang="pt-BR" dirty="0"/>
              <a:t>Notificações automáticas</a:t>
            </a:r>
          </a:p>
          <a:p>
            <a:r>
              <a:rPr lang="pt-BR" b="1" dirty="0"/>
              <a:t>Longo Prazo:</a:t>
            </a:r>
            <a:endParaRPr lang="pt-BR" dirty="0"/>
          </a:p>
          <a:p>
            <a:pPr lvl="1"/>
            <a:r>
              <a:rPr lang="pt-BR" dirty="0"/>
              <a:t>Análise preditiva de degradação</a:t>
            </a:r>
          </a:p>
          <a:p>
            <a:pPr lvl="1"/>
            <a:r>
              <a:rPr lang="pt-BR" dirty="0"/>
              <a:t>Integração com </a:t>
            </a:r>
            <a:r>
              <a:rPr lang="pt-BR" dirty="0" err="1"/>
              <a:t>Waze</a:t>
            </a:r>
            <a:r>
              <a:rPr lang="pt-BR" dirty="0"/>
              <a:t>/Google Maps</a:t>
            </a:r>
          </a:p>
          <a:p>
            <a:pPr lvl="1"/>
            <a:r>
              <a:rPr lang="pt-BR" dirty="0"/>
              <a:t>Modelo SaaS para prefeituras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4212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295771C9-3428-5CA5-1F67-DD79E0095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>
            <a:extLst>
              <a:ext uri="{FF2B5EF4-FFF2-40B4-BE49-F238E27FC236}">
                <a16:creationId xmlns:a16="http://schemas.microsoft.com/office/drawing/2014/main" id="{FECC4DD5-8084-2A57-E7B2-1AAF21816A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pt-BR" dirty="0"/>
              <a:t>Conclusões</a:t>
            </a:r>
            <a:endParaRPr dirty="0"/>
          </a:p>
        </p:txBody>
      </p:sp>
      <p:sp>
        <p:nvSpPr>
          <p:cNvPr id="104" name="Google Shape;104;p4">
            <a:extLst>
              <a:ext uri="{FF2B5EF4-FFF2-40B4-BE49-F238E27FC236}">
                <a16:creationId xmlns:a16="http://schemas.microsoft.com/office/drawing/2014/main" id="{110B972F-82C5-4DAF-F7E3-66752A8165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pt-BR" b="1" dirty="0"/>
              <a:t>O que alcançamos</a:t>
            </a:r>
            <a:endParaRPr lang="pt-BR" dirty="0"/>
          </a:p>
          <a:p>
            <a:r>
              <a:rPr lang="pt-BR" dirty="0"/>
              <a:t>Sistema funcional validado em campo </a:t>
            </a:r>
          </a:p>
          <a:p>
            <a:r>
              <a:rPr lang="pt-BR" dirty="0"/>
              <a:t>Precisão de 80,8% na detecção </a:t>
            </a:r>
          </a:p>
          <a:p>
            <a:r>
              <a:rPr lang="pt-BR" dirty="0"/>
              <a:t>Solução 61% mais econômica </a:t>
            </a:r>
          </a:p>
          <a:p>
            <a:r>
              <a:rPr lang="pt-BR" dirty="0"/>
              <a:t>Aplicativo intuitivo e funcional </a:t>
            </a:r>
          </a:p>
          <a:p>
            <a:r>
              <a:rPr lang="pt-BR" dirty="0"/>
              <a:t>API escalável e robusta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7199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850E18B3-811B-B064-E51E-2BF751849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>
            <a:extLst>
              <a:ext uri="{FF2B5EF4-FFF2-40B4-BE49-F238E27FC236}">
                <a16:creationId xmlns:a16="http://schemas.microsoft.com/office/drawing/2014/main" id="{FCA1106B-7FA6-9797-213F-9D2265FD98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pt-BR" dirty="0"/>
              <a:t>Agradecimentos</a:t>
            </a:r>
            <a:endParaRPr dirty="0"/>
          </a:p>
        </p:txBody>
      </p:sp>
      <p:sp>
        <p:nvSpPr>
          <p:cNvPr id="104" name="Google Shape;104;p4">
            <a:extLst>
              <a:ext uri="{FF2B5EF4-FFF2-40B4-BE49-F238E27FC236}">
                <a16:creationId xmlns:a16="http://schemas.microsoft.com/office/drawing/2014/main" id="{D39D3380-258F-254D-F58F-E441AF1D37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pt-BR" b="1" dirty="0"/>
              <a:t>Agradecemos:</a:t>
            </a:r>
            <a:endParaRPr lang="pt-BR" dirty="0"/>
          </a:p>
          <a:p>
            <a:r>
              <a:rPr lang="pt-BR" dirty="0"/>
              <a:t>Prof. Marcelo Arantes de Oliveira (orientador)</a:t>
            </a:r>
          </a:p>
          <a:p>
            <a:r>
              <a:rPr lang="pt-BR" dirty="0"/>
              <a:t>UGB/FERP</a:t>
            </a:r>
          </a:p>
          <a:p>
            <a:r>
              <a:rPr lang="pt-BR" dirty="0"/>
              <a:t>Todos que contribuíram com o projeto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8371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5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Cassaniga, M. J. Detecção de Trincas e Buracos em Estradas Asfaltadas. Anais do Computer on the Beach, 03 maio 2017. 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Costa, V. Confederação Nacional do Transporte, 2024. Disponível em: &lt;https://cnt.org.br/documento/cbf59b9e-fd1a-41fc-b230-172c4dc42100&gt;. Acesso em: 31 abr. 2025.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G1. Número de buracos e qualidade do asfalto preocupa motoristas que passam por Volta Redonda. G1 - Globo, 27 fev. 2020. Disponível em: &lt;https://g1.globo.com/rj/sul-do-rio-costa-verde/noticia/2020/02/27/numero-de-buracos-e-qualidade-do-asfalto-preocupa-motoristas-que-passam-por-volta-redonda.ghtml&gt;.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Inácio, C. E. et al. Sistema de Detecção de Buracos Viários Utilizando Visão Computacional. Inatel, 02 dez. 2023.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Passos, B. T. et al. Detecção de buracos em pavimento asfáltico com base em Processamento Digital de Imagens e Deep Learning. Anais do Computer on the Beach, 29 abr. 2021.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Rodrigues, R. S. Detecção de buracos em estradas: uma abordagem automatizada baseada na transformada Wavelet de Haar. Manancial, 26 jun. 2019.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Tessitore, G. S. et al. Detecção De Patologias Em Rodovias Utilizando Métodos De Aprendizado Profundo. PUC-SP, 23 jul. 2024.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</Words>
  <Application>Microsoft Office PowerPoint</Application>
  <PresentationFormat>Widescreen</PresentationFormat>
  <Paragraphs>127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Tema do Office</vt:lpstr>
      <vt:lpstr>Detecção Automatizada no Pavimento Usando Visão Computacional</vt:lpstr>
      <vt:lpstr>Introdução</vt:lpstr>
      <vt:lpstr>Nossa Proposta</vt:lpstr>
      <vt:lpstr>Arquitetura do Sistema</vt:lpstr>
      <vt:lpstr>Tecnologia - YOLOv8</vt:lpstr>
      <vt:lpstr>Preparação dos Dados</vt:lpstr>
      <vt:lpstr>Resultados do Modelo</vt:lpstr>
      <vt:lpstr>Funcionalidades Principais</vt:lpstr>
      <vt:lpstr>Análise de Custos</vt:lpstr>
      <vt:lpstr>Impacto e Aplicações</vt:lpstr>
      <vt:lpstr>Próximos Passos</vt:lpstr>
      <vt:lpstr>Conclusões</vt:lpstr>
      <vt:lpstr>Agradecimentos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Luiz Carlos Souza</cp:lastModifiedBy>
  <cp:revision>1</cp:revision>
  <dcterms:modified xsi:type="dcterms:W3CDTF">2025-11-19T21:15:08Z</dcterms:modified>
</cp:coreProperties>
</file>